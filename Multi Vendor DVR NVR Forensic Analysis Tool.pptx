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4" r:id="rId10"/>
  </p:sldIdLst>
  <p:sldSz cx="18288000" cy="10287000"/>
  <p:notesSz cx="6858000" cy="9144000"/>
  <p:embeddedFontLst>
    <p:embeddedFont>
      <p:font typeface="Times New Roman Bold" panose="02020803070505020304" pitchFamily="18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7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WS2Dm0cE9cyBf_11i8u3jjqITsyklA-/view?usp=drivesdk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.be/Yz-GFoPBtjE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5222" y="1277283"/>
            <a:ext cx="6953021" cy="7734300"/>
            <a:chOff x="0" y="0"/>
            <a:chExt cx="6953021" cy="7734300"/>
          </a:xfrm>
        </p:grpSpPr>
        <p:sp>
          <p:nvSpPr>
            <p:cNvPr id="3" name="Freeform 3"/>
            <p:cNvSpPr/>
            <p:nvPr/>
          </p:nvSpPr>
          <p:spPr>
            <a:xfrm>
              <a:off x="-63" y="0"/>
              <a:ext cx="6952961" cy="7734301"/>
            </a:xfrm>
            <a:custGeom>
              <a:avLst/>
              <a:gdLst/>
              <a:ahLst/>
              <a:cxnLst/>
              <a:rect l="l" t="t" r="r" b="b"/>
              <a:pathLst>
                <a:path w="6952961" h="7734301">
                  <a:moveTo>
                    <a:pt x="408368" y="4688967"/>
                  </a:moveTo>
                  <a:cubicBezTo>
                    <a:pt x="408368" y="4688967"/>
                    <a:pt x="408368" y="4688967"/>
                    <a:pt x="1009967" y="4688967"/>
                  </a:cubicBezTo>
                  <a:cubicBezTo>
                    <a:pt x="1047685" y="4688967"/>
                    <a:pt x="1084007" y="4716653"/>
                    <a:pt x="1102169" y="4761611"/>
                  </a:cubicBezTo>
                  <a:cubicBezTo>
                    <a:pt x="1102169" y="4761611"/>
                    <a:pt x="1102169" y="4761611"/>
                    <a:pt x="1403666" y="5454396"/>
                  </a:cubicBezTo>
                  <a:cubicBezTo>
                    <a:pt x="1423224" y="5497576"/>
                    <a:pt x="1423224" y="5552948"/>
                    <a:pt x="1403666" y="5596128"/>
                  </a:cubicBezTo>
                  <a:cubicBezTo>
                    <a:pt x="1403666" y="5596128"/>
                    <a:pt x="1403666" y="5596128"/>
                    <a:pt x="1102169" y="6288913"/>
                  </a:cubicBezTo>
                  <a:cubicBezTo>
                    <a:pt x="1084007" y="6333744"/>
                    <a:pt x="1047685" y="6361557"/>
                    <a:pt x="1009967" y="6361557"/>
                  </a:cubicBezTo>
                  <a:cubicBezTo>
                    <a:pt x="1009967" y="6361557"/>
                    <a:pt x="1009967" y="6361557"/>
                    <a:pt x="408368" y="6361557"/>
                  </a:cubicBezTo>
                  <a:cubicBezTo>
                    <a:pt x="369379" y="6361557"/>
                    <a:pt x="334327" y="6333871"/>
                    <a:pt x="314769" y="6288913"/>
                  </a:cubicBezTo>
                  <a:cubicBezTo>
                    <a:pt x="314769" y="6288913"/>
                    <a:pt x="314769" y="6288913"/>
                    <a:pt x="14668" y="5596128"/>
                  </a:cubicBezTo>
                  <a:cubicBezTo>
                    <a:pt x="-4890" y="5552948"/>
                    <a:pt x="-4890" y="5497576"/>
                    <a:pt x="14668" y="5454396"/>
                  </a:cubicBezTo>
                  <a:cubicBezTo>
                    <a:pt x="14668" y="5454396"/>
                    <a:pt x="14668" y="5454396"/>
                    <a:pt x="314769" y="4761611"/>
                  </a:cubicBezTo>
                  <a:cubicBezTo>
                    <a:pt x="334327" y="4716780"/>
                    <a:pt x="369252" y="4688967"/>
                    <a:pt x="408368" y="4688967"/>
                  </a:cubicBezTo>
                  <a:close/>
                  <a:moveTo>
                    <a:pt x="2799015" y="855218"/>
                  </a:moveTo>
                  <a:cubicBezTo>
                    <a:pt x="2799015" y="855218"/>
                    <a:pt x="2799015" y="855218"/>
                    <a:pt x="3108387" y="855218"/>
                  </a:cubicBezTo>
                  <a:lnTo>
                    <a:pt x="3144455" y="855218"/>
                  </a:lnTo>
                  <a:lnTo>
                    <a:pt x="3178872" y="934339"/>
                  </a:lnTo>
                  <a:cubicBezTo>
                    <a:pt x="3226878" y="1044575"/>
                    <a:pt x="3282630" y="1172718"/>
                    <a:pt x="3347527" y="1321943"/>
                  </a:cubicBezTo>
                  <a:cubicBezTo>
                    <a:pt x="3377372" y="1388110"/>
                    <a:pt x="3377372" y="1472819"/>
                    <a:pt x="3347527" y="1538859"/>
                  </a:cubicBezTo>
                  <a:cubicBezTo>
                    <a:pt x="3347527" y="1538859"/>
                    <a:pt x="3347527" y="1538859"/>
                    <a:pt x="2885883" y="2599817"/>
                  </a:cubicBezTo>
                  <a:cubicBezTo>
                    <a:pt x="2857943" y="2668651"/>
                    <a:pt x="2802317" y="2710942"/>
                    <a:pt x="2744659" y="2710942"/>
                  </a:cubicBezTo>
                  <a:cubicBezTo>
                    <a:pt x="2744659" y="2710942"/>
                    <a:pt x="2744659" y="2710942"/>
                    <a:pt x="1823401" y="2710942"/>
                  </a:cubicBezTo>
                  <a:cubicBezTo>
                    <a:pt x="1808415" y="2710942"/>
                    <a:pt x="1793937" y="2708275"/>
                    <a:pt x="1779967" y="2703195"/>
                  </a:cubicBezTo>
                  <a:lnTo>
                    <a:pt x="1750122" y="2686558"/>
                  </a:lnTo>
                  <a:lnTo>
                    <a:pt x="1768410" y="2644394"/>
                  </a:lnTo>
                  <a:cubicBezTo>
                    <a:pt x="1933256" y="2263902"/>
                    <a:pt x="2144203" y="1776984"/>
                    <a:pt x="2414332" y="1153541"/>
                  </a:cubicBezTo>
                  <a:cubicBezTo>
                    <a:pt x="2494469" y="968756"/>
                    <a:pt x="2638741" y="855091"/>
                    <a:pt x="2799142" y="855091"/>
                  </a:cubicBezTo>
                  <a:lnTo>
                    <a:pt x="2799015" y="855091"/>
                  </a:lnTo>
                  <a:close/>
                  <a:moveTo>
                    <a:pt x="1768791" y="0"/>
                  </a:moveTo>
                  <a:cubicBezTo>
                    <a:pt x="1768791" y="0"/>
                    <a:pt x="1768791" y="0"/>
                    <a:pt x="2808032" y="0"/>
                  </a:cubicBezTo>
                  <a:cubicBezTo>
                    <a:pt x="2873183" y="0"/>
                    <a:pt x="2935921" y="47752"/>
                    <a:pt x="2967417" y="125349"/>
                  </a:cubicBezTo>
                  <a:cubicBezTo>
                    <a:pt x="2967417" y="125349"/>
                    <a:pt x="2967417" y="125349"/>
                    <a:pt x="3246690" y="767334"/>
                  </a:cubicBezTo>
                  <a:lnTo>
                    <a:pt x="3278185" y="839851"/>
                  </a:lnTo>
                  <a:lnTo>
                    <a:pt x="3253293" y="839851"/>
                  </a:lnTo>
                  <a:lnTo>
                    <a:pt x="3135946" y="839851"/>
                  </a:lnTo>
                  <a:lnTo>
                    <a:pt x="3084892" y="722630"/>
                  </a:lnTo>
                  <a:cubicBezTo>
                    <a:pt x="2890201" y="275082"/>
                    <a:pt x="2890201" y="275082"/>
                    <a:pt x="2890201" y="275082"/>
                  </a:cubicBezTo>
                  <a:cubicBezTo>
                    <a:pt x="2862261" y="206248"/>
                    <a:pt x="2806635" y="163957"/>
                    <a:pt x="2748977" y="163957"/>
                  </a:cubicBezTo>
                  <a:cubicBezTo>
                    <a:pt x="1827719" y="163957"/>
                    <a:pt x="1827719" y="163957"/>
                    <a:pt x="1827719" y="163957"/>
                  </a:cubicBezTo>
                  <a:cubicBezTo>
                    <a:pt x="1768029" y="163957"/>
                    <a:pt x="1714308" y="206248"/>
                    <a:pt x="1684463" y="275082"/>
                  </a:cubicBezTo>
                  <a:cubicBezTo>
                    <a:pt x="1224723" y="1336040"/>
                    <a:pt x="1224723" y="1336040"/>
                    <a:pt x="1224723" y="1336040"/>
                  </a:cubicBezTo>
                  <a:cubicBezTo>
                    <a:pt x="1194879" y="1402207"/>
                    <a:pt x="1194879" y="1486916"/>
                    <a:pt x="1224723" y="1552956"/>
                  </a:cubicBezTo>
                  <a:cubicBezTo>
                    <a:pt x="1684336" y="2613914"/>
                    <a:pt x="1684336" y="2613914"/>
                    <a:pt x="1684336" y="2613914"/>
                  </a:cubicBezTo>
                  <a:cubicBezTo>
                    <a:pt x="1699322" y="2648331"/>
                    <a:pt x="1720150" y="2676144"/>
                    <a:pt x="1744788" y="2695321"/>
                  </a:cubicBezTo>
                  <a:lnTo>
                    <a:pt x="1751773" y="2699258"/>
                  </a:lnTo>
                  <a:lnTo>
                    <a:pt x="1714308" y="2785745"/>
                  </a:lnTo>
                  <a:lnTo>
                    <a:pt x="1686368" y="2850134"/>
                  </a:lnTo>
                  <a:lnTo>
                    <a:pt x="1715324" y="2866390"/>
                  </a:lnTo>
                  <a:cubicBezTo>
                    <a:pt x="1731072" y="2872105"/>
                    <a:pt x="1747455" y="2875026"/>
                    <a:pt x="1764219" y="2875026"/>
                  </a:cubicBezTo>
                  <a:cubicBezTo>
                    <a:pt x="2803460" y="2875026"/>
                    <a:pt x="2803460" y="2875026"/>
                    <a:pt x="2803460" y="2875026"/>
                  </a:cubicBezTo>
                  <a:cubicBezTo>
                    <a:pt x="2868611" y="2875026"/>
                    <a:pt x="2931349" y="2827274"/>
                    <a:pt x="2962845" y="2749677"/>
                  </a:cubicBezTo>
                  <a:cubicBezTo>
                    <a:pt x="3483545" y="1552956"/>
                    <a:pt x="3483545" y="1552956"/>
                    <a:pt x="3483545" y="1552956"/>
                  </a:cubicBezTo>
                  <a:cubicBezTo>
                    <a:pt x="3517199" y="1478407"/>
                    <a:pt x="3517199" y="1382776"/>
                    <a:pt x="3483545" y="1308227"/>
                  </a:cubicBezTo>
                  <a:cubicBezTo>
                    <a:pt x="3418393" y="1158621"/>
                    <a:pt x="3361497" y="1027684"/>
                    <a:pt x="3311586" y="913257"/>
                  </a:cubicBezTo>
                  <a:lnTo>
                    <a:pt x="3286440" y="855472"/>
                  </a:lnTo>
                  <a:lnTo>
                    <a:pt x="3403027" y="855472"/>
                  </a:lnTo>
                  <a:cubicBezTo>
                    <a:pt x="3765484" y="855472"/>
                    <a:pt x="4345493" y="855472"/>
                    <a:pt x="5273355" y="855472"/>
                  </a:cubicBezTo>
                  <a:cubicBezTo>
                    <a:pt x="5428295" y="855472"/>
                    <a:pt x="5578028" y="969137"/>
                    <a:pt x="5652831" y="1153922"/>
                  </a:cubicBezTo>
                  <a:cubicBezTo>
                    <a:pt x="5652831" y="1153922"/>
                    <a:pt x="5652831" y="1153922"/>
                    <a:pt x="6892858" y="4003548"/>
                  </a:cubicBezTo>
                  <a:cubicBezTo>
                    <a:pt x="6972995" y="4181222"/>
                    <a:pt x="6972995" y="4408678"/>
                    <a:pt x="6892858" y="4586224"/>
                  </a:cubicBezTo>
                  <a:cubicBezTo>
                    <a:pt x="6892858" y="4586224"/>
                    <a:pt x="6892858" y="4586224"/>
                    <a:pt x="5652831" y="7435851"/>
                  </a:cubicBezTo>
                  <a:cubicBezTo>
                    <a:pt x="5578028" y="7620636"/>
                    <a:pt x="5428422" y="7734301"/>
                    <a:pt x="5273355" y="7734301"/>
                  </a:cubicBezTo>
                  <a:cubicBezTo>
                    <a:pt x="5273355" y="7734301"/>
                    <a:pt x="5273355" y="7734301"/>
                    <a:pt x="2798761" y="7734301"/>
                  </a:cubicBezTo>
                  <a:cubicBezTo>
                    <a:pt x="2638360" y="7734301"/>
                    <a:pt x="2494088" y="7620636"/>
                    <a:pt x="2413951" y="7435851"/>
                  </a:cubicBezTo>
                  <a:cubicBezTo>
                    <a:pt x="2413951" y="7435851"/>
                    <a:pt x="2413951" y="7435851"/>
                    <a:pt x="1179257" y="4586224"/>
                  </a:cubicBezTo>
                  <a:cubicBezTo>
                    <a:pt x="1099121" y="4408551"/>
                    <a:pt x="1099121" y="4181094"/>
                    <a:pt x="1179257" y="4003548"/>
                  </a:cubicBezTo>
                  <a:cubicBezTo>
                    <a:pt x="1179257" y="4003548"/>
                    <a:pt x="1179257" y="4003548"/>
                    <a:pt x="1637727" y="2945511"/>
                  </a:cubicBezTo>
                  <a:lnTo>
                    <a:pt x="1676462" y="2856230"/>
                  </a:lnTo>
                  <a:lnTo>
                    <a:pt x="1675192" y="2855468"/>
                  </a:lnTo>
                  <a:cubicBezTo>
                    <a:pt x="1647379" y="2833878"/>
                    <a:pt x="1623884" y="2802509"/>
                    <a:pt x="1606993" y="2763774"/>
                  </a:cubicBezTo>
                  <a:cubicBezTo>
                    <a:pt x="1606993" y="2763774"/>
                    <a:pt x="1606993" y="2763774"/>
                    <a:pt x="1088580" y="1567053"/>
                  </a:cubicBezTo>
                  <a:cubicBezTo>
                    <a:pt x="1054924" y="1492504"/>
                    <a:pt x="1054924" y="1396873"/>
                    <a:pt x="1088580" y="1322324"/>
                  </a:cubicBezTo>
                  <a:cubicBezTo>
                    <a:pt x="1088580" y="1322324"/>
                    <a:pt x="1088580" y="1322324"/>
                    <a:pt x="1606993" y="125603"/>
                  </a:cubicBezTo>
                  <a:cubicBezTo>
                    <a:pt x="1640902" y="47752"/>
                    <a:pt x="1701354" y="0"/>
                    <a:pt x="1768791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98122" y="2858191"/>
            <a:ext cx="4805267" cy="5138309"/>
            <a:chOff x="0" y="0"/>
            <a:chExt cx="6407023" cy="68510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999"/>
              </a:blip>
              <a:stretch>
                <a:fillRect r="-14950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762045" y="186547"/>
            <a:ext cx="3313652" cy="1684306"/>
            <a:chOff x="0" y="0"/>
            <a:chExt cx="4418203" cy="22457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468" r="-70" b="-23406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6414545" y="1684172"/>
            <a:ext cx="3783578" cy="75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16791" y="243478"/>
            <a:ext cx="12171611" cy="928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4000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SMART INDIA HACKATHON 2026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0600" y="2481304"/>
            <a:ext cx="16596051" cy="654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Problem Statement ID –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SIH26150</a:t>
            </a:r>
            <a:endParaRPr lang="en-US" sz="3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Problem Statement Title –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Development of a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Multi.Vendor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DVR/NVR Forensic Analysis Tool to Standardized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Acquisition,Recovery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, and Analysis of Surveillance Evidence.</a:t>
            </a:r>
            <a:endParaRPr lang="en-US" sz="340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Theme-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Blockchain &amp; Cyber security</a:t>
            </a:r>
            <a:endParaRPr lang="en-US" sz="3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PS Category-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Software</a:t>
            </a:r>
            <a:r>
              <a:rPr lang="en-US" sz="3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Team ID-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192057</a:t>
            </a:r>
            <a:endParaRPr lang="en-US" sz="3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Team Name – </a:t>
            </a:r>
            <a:r>
              <a:rPr lang="en-US" sz="36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Code-Sentinels.</a:t>
            </a:r>
            <a:endParaRPr lang="en-US" sz="3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7571" cy="754856"/>
            <a:chOff x="0" y="0"/>
            <a:chExt cx="18287568" cy="754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7616" cy="754894"/>
            </a:xfrm>
            <a:custGeom>
              <a:avLst/>
              <a:gdLst/>
              <a:ahLst/>
              <a:cxnLst/>
              <a:rect l="l" t="t" r="r" b="b"/>
              <a:pathLst>
                <a:path w="18287616" h="754894">
                  <a:moveTo>
                    <a:pt x="0" y="0"/>
                  </a:moveTo>
                  <a:lnTo>
                    <a:pt x="0" y="754894"/>
                  </a:lnTo>
                  <a:lnTo>
                    <a:pt x="18287616" y="754894"/>
                  </a:lnTo>
                  <a:lnTo>
                    <a:pt x="18287616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4762045" y="85649"/>
            <a:ext cx="3313652" cy="1684306"/>
            <a:chOff x="0" y="0"/>
            <a:chExt cx="4418203" cy="22457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468" r="-70" b="-234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532144"/>
            <a:ext cx="18288000" cy="754856"/>
            <a:chOff x="0" y="0"/>
            <a:chExt cx="18288000" cy="7548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88000" cy="754882"/>
            </a:xfrm>
            <a:custGeom>
              <a:avLst/>
              <a:gdLst/>
              <a:ahLst/>
              <a:cxnLst/>
              <a:rect l="l" t="t" r="r" b="b"/>
              <a:pathLst>
                <a:path w="18288000" h="754882">
                  <a:moveTo>
                    <a:pt x="0" y="754882"/>
                  </a:moveTo>
                  <a:lnTo>
                    <a:pt x="18288000" y="754882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2170147" y="276606"/>
            <a:ext cx="12200000" cy="8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Multi-Vendor DVR/NVR Forensic Tool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64653" y="9627108"/>
            <a:ext cx="2115443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46356" y="9643843"/>
            <a:ext cx="1143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3796" y="1627080"/>
            <a:ext cx="4759226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200" b="1" u="sng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2933" y="2476500"/>
            <a:ext cx="16693105" cy="6559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Secure Acquisition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Read-only disk imaging with SHA-256 hashing.</a:t>
            </a:r>
          </a:p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Vendor Detection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Auto-identify Hikvision, Dahua, CP Plus and more.</a:t>
            </a:r>
          </a:p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Video Recovery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Vendor-agnostic H.264 carving, incl. deleted footage.</a:t>
            </a:r>
          </a:p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Timeline Rebuild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Camera, channel and time-ordered evidence view.</a:t>
            </a:r>
          </a:p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Tamper Detection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Timestamp gaps, GOP breaks, re-encode signs.</a:t>
            </a:r>
          </a:p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Integrity Check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ffprobe / FFmpeg frame-level validation of clips.</a:t>
            </a:r>
          </a:p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Chain of Custody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Hash-chained, append-only log of every action.</a:t>
            </a:r>
          </a:p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Court-Ready Report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PDF with hash log and BSA 2023 Sec. 63 support.</a:t>
            </a:r>
          </a:p>
          <a:p>
            <a:pPr marL="690881" lvl="1" indent="-345440" algn="l">
              <a:lnSpc>
                <a:spcPct val="15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Unified Workflow :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One tool for police, cyber cells and forensic labs.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BB8CD3-B21A-32A2-C92A-9BC25F5228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203424"/>
            <a:ext cx="2134657" cy="21346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7571" cy="754856"/>
            <a:chOff x="0" y="0"/>
            <a:chExt cx="18287568" cy="754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7616" cy="754894"/>
            </a:xfrm>
            <a:custGeom>
              <a:avLst/>
              <a:gdLst/>
              <a:ahLst/>
              <a:cxnLst/>
              <a:rect l="l" t="t" r="r" b="b"/>
              <a:pathLst>
                <a:path w="18287616" h="754894">
                  <a:moveTo>
                    <a:pt x="0" y="0"/>
                  </a:moveTo>
                  <a:lnTo>
                    <a:pt x="0" y="754894"/>
                  </a:lnTo>
                  <a:lnTo>
                    <a:pt x="18287616" y="754894"/>
                  </a:lnTo>
                  <a:lnTo>
                    <a:pt x="18287616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4762045" y="85649"/>
            <a:ext cx="3313652" cy="1684306"/>
            <a:chOff x="0" y="0"/>
            <a:chExt cx="4418203" cy="22457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468" r="-70" b="-234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532144"/>
            <a:ext cx="18288000" cy="754856"/>
            <a:chOff x="0" y="0"/>
            <a:chExt cx="18288000" cy="7548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88000" cy="754882"/>
            </a:xfrm>
            <a:custGeom>
              <a:avLst/>
              <a:gdLst/>
              <a:ahLst/>
              <a:cxnLst/>
              <a:rect l="l" t="t" r="r" b="b"/>
              <a:pathLst>
                <a:path w="18288000" h="754882">
                  <a:moveTo>
                    <a:pt x="0" y="754882"/>
                  </a:moveTo>
                  <a:lnTo>
                    <a:pt x="18288000" y="754882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2133600" y="723900"/>
            <a:ext cx="12801600" cy="8510670"/>
          </a:xfrm>
          <a:custGeom>
            <a:avLst/>
            <a:gdLst/>
            <a:ahLst/>
            <a:cxnLst/>
            <a:rect l="l" t="t" r="r" b="b"/>
            <a:pathLst>
              <a:path w="12072975" h="8205870">
                <a:moveTo>
                  <a:pt x="0" y="0"/>
                </a:moveTo>
                <a:lnTo>
                  <a:pt x="12072975" y="0"/>
                </a:lnTo>
                <a:lnTo>
                  <a:pt x="12072975" y="8205870"/>
                </a:lnTo>
                <a:lnTo>
                  <a:pt x="0" y="8205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664653" y="9627108"/>
            <a:ext cx="31119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46356" y="9643843"/>
            <a:ext cx="1143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216D6D-7F3E-5B4E-722C-82BE733613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203424"/>
            <a:ext cx="2134657" cy="2134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7571" cy="754856"/>
            <a:chOff x="0" y="0"/>
            <a:chExt cx="18287568" cy="754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7616" cy="754894"/>
            </a:xfrm>
            <a:custGeom>
              <a:avLst/>
              <a:gdLst/>
              <a:ahLst/>
              <a:cxnLst/>
              <a:rect l="l" t="t" r="r" b="b"/>
              <a:pathLst>
                <a:path w="18287616" h="754894">
                  <a:moveTo>
                    <a:pt x="0" y="0"/>
                  </a:moveTo>
                  <a:lnTo>
                    <a:pt x="0" y="754894"/>
                  </a:lnTo>
                  <a:lnTo>
                    <a:pt x="18287616" y="754894"/>
                  </a:lnTo>
                  <a:lnTo>
                    <a:pt x="18287616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4762045" y="85649"/>
            <a:ext cx="3313652" cy="1684306"/>
            <a:chOff x="0" y="0"/>
            <a:chExt cx="4418203" cy="22457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468" r="-70" b="-234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532144"/>
            <a:ext cx="18288000" cy="754856"/>
            <a:chOff x="0" y="0"/>
            <a:chExt cx="18288000" cy="7548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88000" cy="754882"/>
            </a:xfrm>
            <a:custGeom>
              <a:avLst/>
              <a:gdLst/>
              <a:ahLst/>
              <a:cxnLst/>
              <a:rect l="l" t="t" r="r" b="b"/>
              <a:pathLst>
                <a:path w="18288000" h="754882">
                  <a:moveTo>
                    <a:pt x="0" y="754882"/>
                  </a:moveTo>
                  <a:lnTo>
                    <a:pt x="18288000" y="754882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9510002" y="1769955"/>
            <a:ext cx="8375066" cy="10645537"/>
          </a:xfrm>
          <a:custGeom>
            <a:avLst/>
            <a:gdLst/>
            <a:ahLst/>
            <a:cxnLst/>
            <a:rect l="l" t="t" r="r" b="b"/>
            <a:pathLst>
              <a:path w="7488065" h="9076174">
                <a:moveTo>
                  <a:pt x="0" y="0"/>
                </a:moveTo>
                <a:lnTo>
                  <a:pt x="7488065" y="0"/>
                </a:lnTo>
                <a:lnTo>
                  <a:pt x="7488065" y="9076174"/>
                </a:lnTo>
                <a:lnTo>
                  <a:pt x="0" y="90761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584778" y="322478"/>
            <a:ext cx="8375066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64653" y="9627108"/>
            <a:ext cx="31119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46356" y="9643843"/>
            <a:ext cx="1143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014537"/>
            <a:ext cx="9608029" cy="58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ct val="150000"/>
              </a:lnSpc>
              <a:buFont typeface="Arial"/>
              <a:buChar char="•"/>
            </a:pPr>
            <a:r>
              <a:rPr lang="en-US" sz="3199" b="1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Acquisition :</a:t>
            </a:r>
            <a:r>
              <a:rPr lang="en-US" sz="3199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Read-only imaging + SHA-256</a:t>
            </a:r>
          </a:p>
          <a:p>
            <a:pPr marL="690879" lvl="1" indent="-345439" algn="l">
              <a:lnSpc>
                <a:spcPct val="150000"/>
              </a:lnSpc>
              <a:buFont typeface="Arial"/>
              <a:buChar char="•"/>
            </a:pPr>
            <a:r>
              <a:rPr lang="en-US" sz="3199" b="1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Vendor Detection :</a:t>
            </a:r>
            <a:r>
              <a:rPr lang="en-US" sz="3199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Header / signature scan</a:t>
            </a:r>
          </a:p>
          <a:p>
            <a:pPr marL="690879" lvl="1" indent="-345439" algn="l">
              <a:lnSpc>
                <a:spcPct val="150000"/>
              </a:lnSpc>
              <a:buFont typeface="Arial"/>
              <a:buChar char="•"/>
            </a:pPr>
            <a:r>
              <a:rPr lang="en-US" sz="3199" b="1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Video Carving :</a:t>
            </a:r>
            <a:r>
              <a:rPr lang="en-US" sz="3199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H.264 NAL-based, vendor-agnostic</a:t>
            </a:r>
          </a:p>
          <a:p>
            <a:pPr marL="690879" lvl="1" indent="-345439" algn="l">
              <a:lnSpc>
                <a:spcPct val="150000"/>
              </a:lnSpc>
              <a:buFont typeface="Arial"/>
              <a:buChar char="•"/>
            </a:pPr>
            <a:r>
              <a:rPr lang="en-US" sz="3199" b="1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Validation :</a:t>
            </a:r>
            <a:r>
              <a:rPr lang="en-US" sz="3199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FFmpeg / ffprobe frame checks</a:t>
            </a:r>
          </a:p>
          <a:p>
            <a:pPr marL="690879" lvl="1" indent="-345439" algn="l">
              <a:lnSpc>
                <a:spcPct val="150000"/>
              </a:lnSpc>
              <a:buFont typeface="Arial"/>
              <a:buChar char="•"/>
            </a:pPr>
            <a:r>
              <a:rPr lang="en-US" sz="3199" b="1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Tamper Analysis :</a:t>
            </a:r>
            <a:r>
              <a:rPr lang="en-US" sz="3199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Timestamp, GOP, re-encode rules</a:t>
            </a:r>
          </a:p>
          <a:p>
            <a:pPr marL="690879" lvl="1" indent="-345439" algn="l">
              <a:lnSpc>
                <a:spcPct val="150000"/>
              </a:lnSpc>
              <a:buFont typeface="Arial"/>
              <a:buChar char="•"/>
            </a:pPr>
            <a:r>
              <a:rPr lang="en-US" sz="3199" b="1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Custody Log :</a:t>
            </a:r>
            <a:r>
              <a:rPr lang="en-US" sz="3199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Hash-chained, append-only</a:t>
            </a:r>
          </a:p>
          <a:p>
            <a:pPr marL="690879" lvl="1" indent="-345439" algn="l">
              <a:lnSpc>
                <a:spcPct val="150000"/>
              </a:lnSpc>
              <a:buFont typeface="Arial"/>
              <a:buChar char="•"/>
            </a:pPr>
            <a:r>
              <a:rPr lang="en-US" sz="3199" b="1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Backend &amp; UI :</a:t>
            </a:r>
            <a:r>
              <a:rPr lang="en-US" sz="3199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Python Flask + React dashboard</a:t>
            </a:r>
          </a:p>
          <a:p>
            <a:pPr marL="690879" lvl="1" indent="-345439" algn="l">
              <a:lnSpc>
                <a:spcPct val="150000"/>
              </a:lnSpc>
              <a:buFont typeface="Arial"/>
              <a:buChar char="•"/>
            </a:pPr>
            <a:r>
              <a:rPr lang="en-US" sz="3199" b="1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Reports &amp; DB :</a:t>
            </a:r>
            <a:r>
              <a:rPr lang="en-US" sz="3199" spc="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ReportLab PDF, MySQL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A6092C-96F3-22E4-1CF4-148C587F20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203424"/>
            <a:ext cx="2134657" cy="2134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7571" cy="754856"/>
            <a:chOff x="0" y="0"/>
            <a:chExt cx="18287568" cy="754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7616" cy="754894"/>
            </a:xfrm>
            <a:custGeom>
              <a:avLst/>
              <a:gdLst/>
              <a:ahLst/>
              <a:cxnLst/>
              <a:rect l="l" t="t" r="r" b="b"/>
              <a:pathLst>
                <a:path w="18287616" h="754894">
                  <a:moveTo>
                    <a:pt x="0" y="0"/>
                  </a:moveTo>
                  <a:lnTo>
                    <a:pt x="0" y="754894"/>
                  </a:lnTo>
                  <a:lnTo>
                    <a:pt x="18287616" y="754894"/>
                  </a:lnTo>
                  <a:lnTo>
                    <a:pt x="18287616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4762045" y="85649"/>
            <a:ext cx="3313652" cy="1684306"/>
            <a:chOff x="0" y="0"/>
            <a:chExt cx="4418203" cy="22457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468" r="-70" b="-234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532144"/>
            <a:ext cx="18288000" cy="754856"/>
            <a:chOff x="0" y="0"/>
            <a:chExt cx="18288000" cy="7548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88000" cy="754882"/>
            </a:xfrm>
            <a:custGeom>
              <a:avLst/>
              <a:gdLst/>
              <a:ahLst/>
              <a:cxnLst/>
              <a:rect l="l" t="t" r="r" b="b"/>
              <a:pathLst>
                <a:path w="18288000" h="754882">
                  <a:moveTo>
                    <a:pt x="0" y="754882"/>
                  </a:moveTo>
                  <a:lnTo>
                    <a:pt x="18288000" y="754882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82933" y="1748602"/>
            <a:ext cx="16996193" cy="759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Technical Feasibility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Proven Tools: Python, FFmpeg, ffprobe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Prior Work: Open-Source DVR Parsers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Modular: New Vendors Added as Plug-ins.</a:t>
            </a:r>
          </a:p>
          <a:p>
            <a:pPr algn="l">
              <a:lnSpc>
                <a:spcPts val="4032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Operational Feasibility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Easy Workflow: Acquire to Report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Human Verification: Examiner Decides</a:t>
            </a:r>
          </a:p>
          <a:p>
            <a:pPr algn="l">
              <a:lnSpc>
                <a:spcPts val="4032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Economic Viability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Low Cost: Open-Source Technologies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High Impact: Faster, Court-Ready Evidence</a:t>
            </a:r>
          </a:p>
          <a:p>
            <a:pPr algn="l">
              <a:lnSpc>
                <a:spcPts val="4032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Challenges &amp; Risk Management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Limited Real Data: Synthetic Disk Images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Closed Formats: Vendor-Agnostic Carving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Evidence Integrity: Read-Only Mode + SHA-256</a:t>
            </a:r>
          </a:p>
          <a:p>
            <a:pPr marL="690881" lvl="1" indent="-345440" algn="l">
              <a:lnSpc>
                <a:spcPts val="4032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Legal: BSA 2023 Sec. 63 Certificate Support</a:t>
            </a:r>
          </a:p>
        </p:txBody>
      </p:sp>
      <p:sp>
        <p:nvSpPr>
          <p:cNvPr id="12" name="Freeform 12"/>
          <p:cNvSpPr/>
          <p:nvPr/>
        </p:nvSpPr>
        <p:spPr>
          <a:xfrm>
            <a:off x="8915401" y="1748601"/>
            <a:ext cx="9065658" cy="6789797"/>
          </a:xfrm>
          <a:custGeom>
            <a:avLst/>
            <a:gdLst/>
            <a:ahLst/>
            <a:cxnLst/>
            <a:rect l="l" t="t" r="r" b="b"/>
            <a:pathLst>
              <a:path w="7867949" h="4402703">
                <a:moveTo>
                  <a:pt x="0" y="0"/>
                </a:moveTo>
                <a:lnTo>
                  <a:pt x="7867949" y="0"/>
                </a:lnTo>
                <a:lnTo>
                  <a:pt x="7867949" y="4402704"/>
                </a:lnTo>
                <a:lnTo>
                  <a:pt x="0" y="440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747711" y="322478"/>
            <a:ext cx="10106777" cy="8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64653" y="9627108"/>
            <a:ext cx="31119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46356" y="9643843"/>
            <a:ext cx="1143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55CC24-3354-E973-35A0-DA6EDA0C72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203424"/>
            <a:ext cx="2134657" cy="21346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7571" cy="754856"/>
            <a:chOff x="0" y="0"/>
            <a:chExt cx="18287568" cy="754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7616" cy="754894"/>
            </a:xfrm>
            <a:custGeom>
              <a:avLst/>
              <a:gdLst/>
              <a:ahLst/>
              <a:cxnLst/>
              <a:rect l="l" t="t" r="r" b="b"/>
              <a:pathLst>
                <a:path w="18287616" h="754894">
                  <a:moveTo>
                    <a:pt x="0" y="0"/>
                  </a:moveTo>
                  <a:lnTo>
                    <a:pt x="0" y="754894"/>
                  </a:lnTo>
                  <a:lnTo>
                    <a:pt x="18287616" y="754894"/>
                  </a:lnTo>
                  <a:lnTo>
                    <a:pt x="18287616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4762045" y="85649"/>
            <a:ext cx="3313652" cy="1684306"/>
            <a:chOff x="0" y="0"/>
            <a:chExt cx="4418203" cy="22457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468" r="-70" b="-234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532144"/>
            <a:ext cx="18288000" cy="754856"/>
            <a:chOff x="0" y="0"/>
            <a:chExt cx="18288000" cy="7548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88000" cy="754882"/>
            </a:xfrm>
            <a:custGeom>
              <a:avLst/>
              <a:gdLst/>
              <a:ahLst/>
              <a:cxnLst/>
              <a:rect l="l" t="t" r="r" b="b"/>
              <a:pathLst>
                <a:path w="18288000" h="754882">
                  <a:moveTo>
                    <a:pt x="0" y="754882"/>
                  </a:moveTo>
                  <a:lnTo>
                    <a:pt x="18288000" y="754882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5143052" y="322478"/>
            <a:ext cx="8161934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64653" y="9627108"/>
            <a:ext cx="31119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39234" y="9636633"/>
            <a:ext cx="121421" cy="33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1912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1252" y="1714500"/>
            <a:ext cx="10300000" cy="767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034" lvl="1" indent="-345017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Faster evidence recovery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– Recovers footage from proprietary DVR/NVR disks without waiting for vendor tools, so investigators and forensic labs lose less time on seized recorders. </a:t>
            </a:r>
          </a:p>
          <a:p>
            <a:pPr marL="690034" lvl="1" indent="-345017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Court-ready integrity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– SHA-256 hashing, a hash-chained custody log and a BSA 2023 Sec. 63 support report help show that the footage was not altered after seizure. </a:t>
            </a:r>
          </a:p>
          <a:p>
            <a:pPr marL="690034" lvl="1" indent="-345017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Tamper visibility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– Timestamp gaps, GOP breaks and re-encode signs are flagged, so removed or edited clips are noticed early and can be explained in the report. </a:t>
            </a:r>
          </a:p>
          <a:p>
            <a:pPr marL="690034" lvl="1" indent="-345017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One tool, many vendors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– A single vendor-agnostic workflow for police, cyber cells and forensic labs replaces separate vendor tools, and new vendors can be added as plug-ins.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75A1E5-DC0F-213C-E097-6D09EE80F2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203424"/>
            <a:ext cx="2134657" cy="2134657"/>
          </a:xfrm>
          <a:prstGeom prst="rect">
            <a:avLst/>
          </a:prstGeom>
        </p:spPr>
      </p:pic>
      <p:pic>
        <p:nvPicPr>
          <p:cNvPr id="18" name="Picture 18" descr="Impact and benefits summary: four cards for faster fund recovery, smarter investigator time, stronger bank-police coordination, and scalable data-driven polic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73215"/>
            <a:ext cx="6473000" cy="6998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08636EE2-3FE4-267D-0CFF-CE411CC666E2}"/>
              </a:ext>
            </a:extLst>
          </p:cNvPr>
          <p:cNvGrpSpPr/>
          <p:nvPr/>
        </p:nvGrpSpPr>
        <p:grpSpPr>
          <a:xfrm>
            <a:off x="14563851" y="34675"/>
            <a:ext cx="3313652" cy="1684306"/>
            <a:chOff x="0" y="0"/>
            <a:chExt cx="4418203" cy="2245741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759F134-1C33-AFAB-93AF-F340BBBD646D}"/>
                </a:ext>
              </a:extLst>
            </p:cNvPr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468" r="-70" b="-23406"/>
              </a:stretch>
            </a:blipFill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BD00CDA-3FA8-86FA-9D10-63444F7E78D2}"/>
              </a:ext>
            </a:extLst>
          </p:cNvPr>
          <p:cNvSpPr txBox="1"/>
          <p:nvPr/>
        </p:nvSpPr>
        <p:spPr>
          <a:xfrm>
            <a:off x="3919384" y="34675"/>
            <a:ext cx="10419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LINK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D6C30A-CCAE-AEC2-FEDB-CFE362234BF6}"/>
              </a:ext>
            </a:extLst>
          </p:cNvPr>
          <p:cNvSpPr txBox="1"/>
          <p:nvPr/>
        </p:nvSpPr>
        <p:spPr>
          <a:xfrm>
            <a:off x="381000" y="3162300"/>
            <a:ext cx="174965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EXPLANATION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8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https://drive.google.com/file/d/1PWS2Dm0cE9cyBf_11i8u3jjqITsyklA-/view?usp=drivesdk</a:t>
            </a:r>
            <a:r>
              <a:rPr lang="en-IN" sz="28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pic>
        <p:nvPicPr>
          <p:cNvPr id="6" name="Image 2" descr="/tmp/build/cs_logo.png">
            <a:extLst>
              <a:ext uri="{FF2B5EF4-FFF2-40B4-BE49-F238E27FC236}">
                <a16:creationId xmlns:a16="http://schemas.microsoft.com/office/drawing/2014/main" id="{281520EA-76FF-1100-4172-1FAB64CDA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97" y="112185"/>
            <a:ext cx="1865376" cy="16916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046EC4-33CF-FB11-E179-376C85229092}"/>
              </a:ext>
            </a:extLst>
          </p:cNvPr>
          <p:cNvSpPr txBox="1"/>
          <p:nvPr/>
        </p:nvSpPr>
        <p:spPr>
          <a:xfrm>
            <a:off x="1562100" y="5047208"/>
            <a:ext cx="140017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				                PROTOTYPE EXPLANATION :</a:t>
            </a:r>
          </a:p>
          <a:p>
            <a:endParaRPr lang="en-IN" sz="2800" b="1" dirty="0"/>
          </a:p>
          <a:p>
            <a:r>
              <a:rPr lang="en-IN" sz="2800" dirty="0"/>
              <a:t>				           [</a:t>
            </a:r>
            <a:r>
              <a:rPr lang="en-IN" sz="2800" dirty="0">
                <a:hlinkClick r:id="rId5"/>
              </a:rPr>
              <a:t>https://youtu.be/Yz-GFoPBtjE</a:t>
            </a:r>
            <a:r>
              <a:rPr lang="en-IN" sz="28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17517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7571" cy="754856"/>
            <a:chOff x="0" y="0"/>
            <a:chExt cx="18287568" cy="754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7616" cy="754894"/>
            </a:xfrm>
            <a:custGeom>
              <a:avLst/>
              <a:gdLst/>
              <a:ahLst/>
              <a:cxnLst/>
              <a:rect l="l" t="t" r="r" b="b"/>
              <a:pathLst>
                <a:path w="18287616" h="754894">
                  <a:moveTo>
                    <a:pt x="0" y="0"/>
                  </a:moveTo>
                  <a:lnTo>
                    <a:pt x="0" y="754894"/>
                  </a:lnTo>
                  <a:lnTo>
                    <a:pt x="18287616" y="754894"/>
                  </a:lnTo>
                  <a:lnTo>
                    <a:pt x="18287616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4762045" y="85649"/>
            <a:ext cx="3313652" cy="1684306"/>
            <a:chOff x="0" y="0"/>
            <a:chExt cx="4418203" cy="22457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468" r="-70" b="-234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494044"/>
            <a:ext cx="18288000" cy="754856"/>
            <a:chOff x="0" y="0"/>
            <a:chExt cx="18288000" cy="7548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88000" cy="754882"/>
            </a:xfrm>
            <a:custGeom>
              <a:avLst/>
              <a:gdLst/>
              <a:ahLst/>
              <a:cxnLst/>
              <a:rect l="l" t="t" r="r" b="b"/>
              <a:pathLst>
                <a:path w="18288000" h="754882">
                  <a:moveTo>
                    <a:pt x="0" y="754882"/>
                  </a:moveTo>
                  <a:lnTo>
                    <a:pt x="18288000" y="754882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3809757" y="322478"/>
            <a:ext cx="10630386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64653" y="9627108"/>
            <a:ext cx="31119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46356" y="9643843"/>
            <a:ext cx="1143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2109" y="2434334"/>
            <a:ext cx="17875891" cy="6186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Smart India Hackathon 2026 — Problem Statement SIH26150 (NTRO), official portal: https://sih.gov.in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Bharatiya Sakshya Adhiniyam (BSA) 2023, Section 63 — admissibility of electronic records and the certificate requirement.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ITU-T Rec. H.264 / ISO/IEC 14496-10 — NAL unit and SPS/PPS structure used for H.264 stream carving.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FFmpeg / ffprobe documentation — frame-level validation of recovered streams: https://ffmpeg.org/documentation.html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C502D05-32BD-4974-60FC-538AEC808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-203424"/>
            <a:ext cx="2134657" cy="21346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4762045" y="85649"/>
            <a:ext cx="3313652" cy="1684306"/>
            <a:chOff x="0" y="0"/>
            <a:chExt cx="4418203" cy="2245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468" r="-70" b="-2340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664653" y="9627108"/>
            <a:ext cx="311199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6356" y="9643843"/>
            <a:ext cx="1143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45754" y="4156067"/>
            <a:ext cx="7796064" cy="174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643</Words>
  <Application>Microsoft Office PowerPoint</Application>
  <PresentationFormat>Custom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 Bold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SIH2025-IDEA-Presentation-Format.pptx_20260820_140049_0000.pdf</dc:title>
  <dc:creator>Praveen</dc:creator>
  <cp:lastModifiedBy>Mxcro _</cp:lastModifiedBy>
  <cp:revision>8</cp:revision>
  <dcterms:created xsi:type="dcterms:W3CDTF">2006-08-16T00:00:00Z</dcterms:created>
  <dcterms:modified xsi:type="dcterms:W3CDTF">2026-09-30T14:11:31Z</dcterms:modified>
  <dc:identifier>DAHTTMf4ZUA</dc:identifier>
</cp:coreProperties>
</file>